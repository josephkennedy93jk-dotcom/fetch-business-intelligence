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3A363FD-F7BE-E94E-EBC3-BF24D20DB577}">
          <p14:sldIdLst>
            <p14:sldId id="256"/>
            <p14:sldId id="257"/>
          </p14:sldIdLst>
        </p14:section>
        <p14:section name="Data Engineering" id="{2303DB22-65B1-F206-7419-77DB075DA828}">
          <p14:sldIdLst>
            <p14:sldId id="258"/>
          </p14:sldIdLst>
        </p14:section>
        <p14:section name="Sales" id="{47F930F5-78B7-7AC9-5FFB-1A382D840B51}">
          <p14:sldIdLst>
            <p14:sldId id="259"/>
          </p14:sldIdLst>
        </p14:section>
        <p14:section name="Marketing" id="{AC7B05ED-1BAB-1D38-D170-7491E80B80BF}">
          <p14:sldIdLst>
            <p14:sldId id="260"/>
            <p14:sldId id="261"/>
          </p14:sldIdLst>
        </p14:section>
        <p14:section name="Operations" id="{CE67EA07-9DA3-7C1E-7631-E580363B9280}">
          <p14:sldIdLst>
            <p14:sldId id="262"/>
            <p14:sldId id="263"/>
          </p14:sldIdLst>
        </p14:section>
        <p14:section name="Customer Intelligence" id="{C3EDD18A-17BE-16BD-06BB-6594DBAFCF77}">
          <p14:sldIdLst>
            <p14:sldId id="264"/>
          </p14:sldIdLst>
        </p14:section>
        <p14:section name="Strategy" id="{FFD87D80-D222-D9E2-E71E-F1F18022C7E9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Kennedy" userId="79a0628d-dc1d-489c-93e8-1c95385708bb" providerId="ADAL" clId="{B2CBF49D-1746-467E-A90F-5C1F97BD5FBF}"/>
    <pc:docChg chg="modSld">
      <pc:chgData name="Joseph Kennedy" userId="79a0628d-dc1d-489c-93e8-1c95385708bb" providerId="ADAL" clId="{B2CBF49D-1746-467E-A90F-5C1F97BD5FBF}" dt="2026-10-09T10:47:31.646" v="4" actId="14100"/>
      <pc:docMkLst>
        <pc:docMk/>
      </pc:docMkLst>
      <pc:sldChg chg="modSp mod">
        <pc:chgData name="Joseph Kennedy" userId="79a0628d-dc1d-489c-93e8-1c95385708bb" providerId="ADAL" clId="{B2CBF49D-1746-467E-A90F-5C1F97BD5FBF}" dt="2026-10-09T10:47:22.768" v="1" actId="1076"/>
        <pc:sldMkLst>
          <pc:docMk/>
          <pc:sldMk cId="0" sldId="258"/>
        </pc:sldMkLst>
        <pc:picChg chg="mod">
          <ac:chgData name="Joseph Kennedy" userId="79a0628d-dc1d-489c-93e8-1c95385708bb" providerId="ADAL" clId="{B2CBF49D-1746-467E-A90F-5C1F97BD5FBF}" dt="2026-10-09T10:47:22.768" v="1" actId="1076"/>
          <ac:picMkLst>
            <pc:docMk/>
            <pc:sldMk cId="0" sldId="258"/>
            <ac:picMk id="4" creationId="{00000000-0000-0000-0000-000000000000}"/>
          </ac:picMkLst>
        </pc:picChg>
      </pc:sldChg>
      <pc:sldChg chg="modSp mod">
        <pc:chgData name="Joseph Kennedy" userId="79a0628d-dc1d-489c-93e8-1c95385708bb" providerId="ADAL" clId="{B2CBF49D-1746-467E-A90F-5C1F97BD5FBF}" dt="2026-10-09T10:47:31.646" v="4" actId="14100"/>
        <pc:sldMkLst>
          <pc:docMk/>
          <pc:sldMk cId="0" sldId="259"/>
        </pc:sldMkLst>
        <pc:picChg chg="mod">
          <ac:chgData name="Joseph Kennedy" userId="79a0628d-dc1d-489c-93e8-1c95385708bb" providerId="ADAL" clId="{B2CBF49D-1746-467E-A90F-5C1F97BD5FBF}" dt="2026-10-09T10:47:31.646" v="4" actId="14100"/>
          <ac:picMkLst>
            <pc:docMk/>
            <pc:sldMk cId="0" sldId="259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114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1828800"/>
            <a:ext cx="3291840" cy="10298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2461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Analytics Portfolio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703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data collection to customer intelligence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0" y="576072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Joseph Kennedy  |  Senior Data Analyst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378" y="320040"/>
            <a:ext cx="818374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at a Glance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 is a multi-seller e-commerce marketplace connecting thousands of independent sellers to consumers across the US. The business has scaled rapidly but lacks a unified analytics function. This project builds the measurement layer from scratch: warehouse, dashboards, segmentation and predictive models.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64008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$9.4M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256032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$159.70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6974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 order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8056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448056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$1.30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6974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paid channels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per Click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640080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$45.60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26974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blended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Acq. Cost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32104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 txBox="1"/>
          <p:nvPr/>
        </p:nvSpPr>
        <p:spPr>
          <a:xfrm>
            <a:off x="832104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5.9%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26974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delivered orders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 Rate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24128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 txBox="1"/>
          <p:nvPr/>
        </p:nvSpPr>
        <p:spPr>
          <a:xfrm>
            <a:off x="1024128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4.1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10241280" y="26974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 of 5.0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24128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Review Score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3703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grew from $46K/month (Oct 2016) to $985K/month steady state (Aug 2018), with a $1.15M Black Friday peak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4114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20 product categories account for 85% of revenue; no single category exceeds 9%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4526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 state concentration risk: 64.6% of all revenue from one state, top 3 states = 81.5%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97% of customers buy once. Repeat purchase rate is 3% vs industry benchmark of 25-40%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6.77% late delivery rate, but late orders are 6.7x more likely to produce a bad review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Stockout revenue at risk estimated at $4.5M (29% of realised revenue)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114800" y="6355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Overview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378" y="320040"/>
            <a:ext cx="818374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 Stack and Data Pipeline</a:t>
            </a:r>
            <a:endParaRPr lang="en-US" sz="2800" dirty="0"/>
          </a:p>
        </p:txBody>
      </p:sp>
      <p:pic>
        <p:nvPicPr>
          <p:cNvPr id="4" name="Image 1" descr="/mnt/user-data/uploads/E commerce Project/fetch-tech-stack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15" y="1901952"/>
            <a:ext cx="6400800" cy="289864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0" y="123444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7772400" y="1527048"/>
            <a:ext cx="3776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BigQuery hosts 8 dimension and fact tables, 15 analytical views, and the ad-spend join.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7772400" y="224028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772400" y="2532888"/>
            <a:ext cx="3776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Colab runs Python for ad-spend analysis, K-Means segmentation and predictive modelling.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0" y="324612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3538728"/>
            <a:ext cx="3776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Tableau Public serves 4 department dashboards with live extracts.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772400" y="425196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0" y="4544568"/>
            <a:ext cx="3776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documented issues found and resolved during exploration (review duplicates, week alignment, delivery timestamp batching).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0" y="6355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360152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378" y="320040"/>
            <a:ext cx="818374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Performance</a:t>
            </a:r>
            <a:endParaRPr lang="en-US" sz="2800" dirty="0"/>
          </a:p>
        </p:txBody>
      </p:sp>
      <p:pic>
        <p:nvPicPr>
          <p:cNvPr id="4" name="Image 1" descr="/mnt/user-data/uploads/E commerce Project/Individual graph images/sales-revenue-by-product-categ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55" y="1234440"/>
            <a:ext cx="6305909" cy="39136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583680" y="1234440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583680" y="1691640"/>
            <a:ext cx="4965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grew from $46K/month (Oct 2016) to $985K/month steady state, with a $1.15M Black Friday peak in Nov 2017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2221992"/>
            <a:ext cx="4965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20 categories account for 85% of revenue. Health Beauty leads at 9%, with no single-category dependency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583680" y="2752344"/>
            <a:ext cx="4965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AOV flat at $155-170 across all 7 channels, so channel strategy is a volume and cost decision, not a quality one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3282696"/>
            <a:ext cx="4965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 state concentration risk: 64.6% of revenue from one state. Top 3 states = 81.5%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3813048"/>
            <a:ext cx="4965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 2016 anomaly: 1 order only, likely a marketing pause or platform outage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4343400"/>
            <a:ext cx="4965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seller accounts for 1.6% of revenue; top 20 = 22%. No seller concentration risk across 3,000+ sellers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4873752"/>
            <a:ext cx="4965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Seller strategy split: volume plays (~$80 AOV, 1,800+ orders) vs high-ticket (~$660 AOV, few hundred orders)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0" y="6355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360152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378" y="320040"/>
            <a:ext cx="818374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Marketing Efficiency</a:t>
            </a:r>
            <a:endParaRPr lang="en-US" sz="2800" dirty="0"/>
          </a:p>
        </p:txBody>
      </p:sp>
      <p:pic>
        <p:nvPicPr>
          <p:cNvPr id="4" name="Image 1" descr="/mnt/user-data/uploads/E commerce Project/Individual graph images/effective-cac-per-aquisition-cha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5486400" cy="3200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583680" y="1234440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Channel efficiency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583680" y="1691640"/>
            <a:ext cx="4965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Email CAC: $2.20 (lowest cost channel, but small volume)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2194560"/>
            <a:ext cx="4965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Paid Search CAC: $43.83 (primary volume driver)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583680" y="2697480"/>
            <a:ext cx="4965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Paid Social CAC: $57.85 (mid-tier efficiency)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3200400"/>
            <a:ext cx="4965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Display CAC: $76.47 (highest cost, weakest return)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3703320"/>
            <a:ext cx="4965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CTR (2.0%) and conversion rate (2.5%) are identical across all paid channels: CAC differences are driven entirely by CPM, not funnel quality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4206240"/>
            <a:ext cx="4965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strategic lever is CPM negotiation or shifting budget toward Email, which has 20x better efficiency than Display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Diagnostic funnel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983480"/>
          <a:ext cx="7772400" cy="12801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Channel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CTR 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Conv 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CPM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CAC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Email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7.5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33.3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$55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$2.20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Paid Search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$43.83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Paid Social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$57.85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Display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$38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$76.47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4114800" y="6355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Marketing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360152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378" y="320040"/>
            <a:ext cx="818374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Channel Attribution</a:t>
            </a:r>
            <a:endParaRPr lang="en-US" sz="2800" dirty="0"/>
          </a:p>
        </p:txBody>
      </p:sp>
      <p:pic>
        <p:nvPicPr>
          <p:cNvPr id="4" name="Image 1" descr="/mnt/user-data/uploads/E commerce Project/Individual graph images/clicks-and-impressions-per-aquisition-chann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5303520" cy="3200400"/>
          </a:xfrm>
          <a:prstGeom prst="rect">
            <a:avLst/>
          </a:prstGeom>
        </p:spPr>
      </p:pic>
      <p:pic>
        <p:nvPicPr>
          <p:cNvPr id="5" name="Image 2" descr="/mnt/user-data/uploads/E commerce Project/Individual graph images/orders-by-aquisition-cha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34440"/>
            <a:ext cx="5330952" cy="32004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40080" y="4572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Organic overtook Paid Search as the top channel from April 2018, a sign of brand maturity.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5029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traffic grew 40x over the period, acting as a proxy for brand recognition. CTR (2.0%) and conversion rate (2.5%) are identical across paid channels, which means CAC differences are driven entirely by CPM, not funnel quality. The strategic lever is CPM negotiation or shifting budget toward lower-cost channels like Email ($2.20 CAC).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4114800" y="6355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Marketing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10360152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378" y="320040"/>
            <a:ext cx="818374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Operations and Delivery</a:t>
            </a:r>
            <a:endParaRPr lang="en-US" sz="2800" dirty="0"/>
          </a:p>
        </p:txBody>
      </p:sp>
      <p:pic>
        <p:nvPicPr>
          <p:cNvPr id="4" name="Image 1" descr="/mnt/user-data/uploads/E commerce Project/Individual graph images/review-score-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5486400" cy="3474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583680" y="1234440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Delivery and CSAT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583680" y="1691640"/>
            <a:ext cx="4965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Median delivery: 10 days. Mean 12.5 (right-skewed). P90 = 23 days, meaning 10% of customers wait 3+ weeks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2286000"/>
            <a:ext cx="4965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On-time rate: 93.2%. Within 2 points of Amazon Prime benchmarks, without centralised logistics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583680" y="2880360"/>
            <a:ext cx="4965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 orders score 2.27 avg review (vs 4.29 on-time). 62.4% of late orders produce a bad review, a 6.7x multiplier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3474720"/>
            <a:ext cx="4965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 delivery drives 28% of all bad reviews from only 6.77% of orders. Cutting late rate by 50% eliminates 14% of all negative reviews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4069080"/>
            <a:ext cx="4965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NPS proxy: +34.85. 57.8% five-star, 11.5% one-star. The 1-star bucket is 3.6x the 2-star bucket: customers polarise rather than settle in the middle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4663440"/>
            <a:ext cx="4965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quality note: 14 of top 20 longest deliveries timestamped in a single 4-hour batch window (reconciliation artefact, not real wait times)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6355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0360152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378" y="320040"/>
            <a:ext cx="818374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Returns and Seller Quality</a:t>
            </a:r>
            <a:endParaRPr lang="en-US" sz="2800" dirty="0"/>
          </a:p>
        </p:txBody>
      </p:sp>
      <p:pic>
        <p:nvPicPr>
          <p:cNvPr id="4" name="Image 1" descr="/mnt/user-data/uploads/E commerce Project/Individual graph images/return-reas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5303520" cy="3657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217920" y="123444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59% of returns are seller-preventable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217920" y="1828800"/>
            <a:ext cx="164592" cy="164592"/>
          </a:xfrm>
          <a:prstGeom prst="ellipse">
            <a:avLst/>
          </a:prstGeom>
          <a:solidFill>
            <a:srgbClr val="F973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 txBox="1"/>
          <p:nvPr/>
        </p:nvSpPr>
        <p:spPr>
          <a:xfrm>
            <a:off x="65379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Defective product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875520" y="17830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23.5%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217920" y="2304288"/>
            <a:ext cx="164592" cy="164592"/>
          </a:xfrm>
          <a:prstGeom prst="ellipse">
            <a:avLst/>
          </a:prstGeom>
          <a:solidFill>
            <a:srgbClr val="F973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 txBox="1"/>
          <p:nvPr/>
        </p:nvSpPr>
        <p:spPr>
          <a:xfrm>
            <a:off x="6537960" y="2258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Item not as described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9875520" y="22585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21.6%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2779776"/>
            <a:ext cx="164592" cy="164592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 txBox="1"/>
          <p:nvPr/>
        </p:nvSpPr>
        <p:spPr>
          <a:xfrm>
            <a:off x="6537960" y="2734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Changed mind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875520" y="273405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21.2%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3255264"/>
            <a:ext cx="164592" cy="164592"/>
          </a:xfrm>
          <a:prstGeom prst="ellipse">
            <a:avLst/>
          </a:prstGeom>
          <a:solidFill>
            <a:srgbClr val="F973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 txBox="1"/>
          <p:nvPr/>
        </p:nvSpPr>
        <p:spPr>
          <a:xfrm>
            <a:off x="6537960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Wrong item shipped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9875520" y="320954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14.1%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7920" y="37307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 txBox="1"/>
          <p:nvPr/>
        </p:nvSpPr>
        <p:spPr>
          <a:xfrm>
            <a:off x="653796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Damaged in transit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875520" y="368503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12.4%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17920" y="42062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 txBox="1"/>
          <p:nvPr/>
        </p:nvSpPr>
        <p:spPr>
          <a:xfrm>
            <a:off x="65379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 delivery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9875520" y="41605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4.4%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217920" y="4681728"/>
            <a:ext cx="164592" cy="164592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 txBox="1"/>
          <p:nvPr/>
        </p:nvSpPr>
        <p:spPr>
          <a:xfrm>
            <a:off x="6537960" y="4636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Size/fit issue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9875520" y="463600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2.7%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217920" y="5029200"/>
            <a:ext cx="5330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Behavioural contradiction: late delivery drives 28% of bad reviews but only 4.4% of returns. Customers keep late items but punish the seller in ratings.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4114800" y="6355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0360152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378" y="320040"/>
            <a:ext cx="818374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Intelligence: K-Means Segmentation</a:t>
            </a:r>
            <a:endParaRPr lang="en-US" sz="2800" dirty="0"/>
          </a:p>
        </p:txBody>
      </p:sp>
      <p:pic>
        <p:nvPicPr>
          <p:cNvPr id="4" name="Image 1" descr="/mnt/user-data/uploads/E commerce Project/fetch-customer-seg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5303520" cy="3474720"/>
          </a:xfrm>
          <a:prstGeom prst="rect">
            <a:avLst/>
          </a:prstGeom>
        </p:spPr>
      </p:pic>
      <p:pic>
        <p:nvPicPr>
          <p:cNvPr id="5" name="Image 2" descr="/mnt/user-data/uploads/E commerce Project/Individual graph images/k-means-heat-map-cluster-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34440"/>
            <a:ext cx="5330952" cy="23774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21792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Satisfied Low-Spend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877824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60.3%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9692640" y="36118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 frequency, low monetary, high satisfaction. Largest group.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6217920" y="3995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Dissatisfied Standard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8778240" y="3995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18.7%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9692640" y="3995928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spend, poor reviews. Churn risk.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621792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High-Value Instalment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8778240" y="43799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14.4%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9692640" y="4379976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basket size, uses instalment payments.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6217920" y="4764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High-Return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8778240" y="47640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6.6%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9692640" y="476402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Elevated return rates. Operational cost driver.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40080" y="4846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 txBox="1"/>
          <p:nvPr/>
        </p:nvSpPr>
        <p:spPr>
          <a:xfrm>
            <a:off x="82296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97% of customers buy once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 purchase rate is 3% vs industry benchmark 25-40%. Growth is entirely acquisition-driven. Moving repeat rate from 3% to 8% would double the revenue base without new acquisition spend.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4114800" y="6355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Intelligence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0360152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378" y="320040"/>
            <a:ext cx="818374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3456432" cy="4572000"/>
          </a:xfrm>
          <a:prstGeom prst="roundRect">
            <a:avLst>
              <a:gd name="adj" fmla="val 317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86868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182880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Fix Retention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240280"/>
            <a:ext cx="29992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97% one-and-done rate is the single largest strategic gap. A post-purchase re-engagement flow (email sequences, personalised recommendations via segment data) targeting the Satisfied Low-Spend cluster (60% of customers) has the highest expected return. Moving repeat rate from 3% to 8% doubles the active revenue base.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8006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3% repeat rate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12064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Target: 8%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70832" y="1234440"/>
            <a:ext cx="3456432" cy="4572000"/>
          </a:xfrm>
          <a:prstGeom prst="roundRect">
            <a:avLst>
              <a:gd name="adj" fmla="val 317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4599432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99432" y="182880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 Late Deliveries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99432" y="2240280"/>
            <a:ext cx="29992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6.77% of orders arrive late, but those orders are responsible for 28% of all bad reviews. The CSAT multiplier is 6.7x. A 50% reduction in late deliveries eliminates 14% of negative reviews and materially improves the NPS proxy (+34.85 today). Priority: identify the worst-performing seller-state-carrier combinations.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99432" y="48006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6.77% late rate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99432" y="512064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Target: 3.5%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101584" y="1234440"/>
            <a:ext cx="3456432" cy="4572000"/>
          </a:xfrm>
          <a:prstGeom prst="roundRect">
            <a:avLst>
              <a:gd name="adj" fmla="val 317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8330184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0184" y="182880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Address Seller Quality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330184" y="2240280"/>
            <a:ext cx="29992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59% of returns are seller-preventable (defective, misdescribed, wrong item). Stockout events represent $4.5M in revenue at risk (~29% of realised revenue). Introduce a seller quality scorecard combining return reason mix, review scores and stockout frequency. Gate marketplace visibility on the score.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330184" y="48006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59% seller-fault returns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330184" y="512064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Target: 30%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0" y="6355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Strategy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360152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a8476756-7cff-574c-a1fa-1616c2947790/46d358c7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378" y="320040"/>
            <a:ext cx="818374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 and Next Steps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warehouse tables and 15 analytical views in BigQuery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15-query descriptive narrative covering sales, marketing, operations and customer behaviour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Tableau dashboards (Revenue, Marketing, Operations, KPI Overview)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Ad-spend efficiency analysis across 4 paid channels with diagnostic funnel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K-Means customer segmentation (4 clusters on RFM features)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data quality issues documented and resolved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234440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1691640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Predictive model: churn probability scoring using segment features and order history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148840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CLV estimation per segment to prioritise retention spend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606040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Seller quality scorecard integrating return reasons, reviews and stockout data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063240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Delivery carrier performance analysis by state to identify worst-case routes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520440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Geo-translation layer (US state mapping) for portfolio presentation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3492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 is building its analytics capability from the ground up. This is the foundation.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6355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360152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tch">
  <a:themeElements>
    <a:clrScheme name="Fetch">
      <a:dk1>
        <a:srgbClr val="0A0A0A"/>
      </a:dk1>
      <a:lt1>
        <a:srgbClr val="FFFFFF"/>
      </a:lt1>
      <a:dk2>
        <a:srgbClr val="404040"/>
      </a:dk2>
      <a:lt2>
        <a:srgbClr val="F5F5F5"/>
      </a:lt2>
      <a:accent1>
        <a:srgbClr val="3B82F6"/>
      </a:accent1>
      <a:accent2>
        <a:srgbClr val="F97362"/>
      </a:accent2>
      <a:accent3>
        <a:srgbClr val="14B8A6"/>
      </a:accent3>
      <a:accent4>
        <a:srgbClr val="8B5CF6"/>
      </a:accent4>
      <a:accent5>
        <a:srgbClr val="F59E0B"/>
      </a:accent5>
      <a:accent6>
        <a:srgbClr val="EC4899"/>
      </a:accent6>
      <a:hlink>
        <a:srgbClr val="3B82F6"/>
      </a:hlink>
      <a:folHlink>
        <a:srgbClr val="1D4ED8"/>
      </a:folHlink>
    </a:clrScheme>
    <a:fontScheme name="Fetch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Microsoft Office PowerPoint</Application>
  <PresentationFormat>Widescreen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Manrope</vt:lpstr>
      <vt:lpstr>Fetch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Fetch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Fetch Analytics Portfolio</dc:title>
  <dc:subject>Fetch Analytics: From Data to Decision</dc:subject>
  <dc:creator>Joseph Kennedy</dc:creator>
  <cp:lastModifiedBy>Joseph Kennedy</cp:lastModifiedBy>
  <cp:revision>1</cp:revision>
  <dcterms:created xsi:type="dcterms:W3CDTF">2026-10-08T18:01:34Z</dcterms:created>
  <dcterms:modified xsi:type="dcterms:W3CDTF">2026-10-09T10:47:39Z</dcterms:modified>
</cp:coreProperties>
</file>